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3" r:id="rId4"/>
    <p:sldId id="267" r:id="rId5"/>
    <p:sldId id="262" r:id="rId6"/>
    <p:sldId id="265" r:id="rId7"/>
    <p:sldId id="268" r:id="rId8"/>
    <p:sldId id="269" r:id="rId9"/>
    <p:sldId id="270" r:id="rId10"/>
    <p:sldId id="271" r:id="rId11"/>
    <p:sldId id="272" r:id="rId12"/>
    <p:sldId id="273" r:id="rId13"/>
    <p:sldId id="275" r:id="rId14"/>
    <p:sldId id="276" r:id="rId15"/>
    <p:sldId id="274" r:id="rId16"/>
    <p:sldId id="277" r:id="rId17"/>
    <p:sldId id="278" r:id="rId18"/>
    <p:sldId id="279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3"/>
    <a:srgbClr val="05AEFF"/>
    <a:srgbClr val="D9D9D9"/>
    <a:srgbClr val="8950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68"/>
  </p:normalViewPr>
  <p:slideViewPr>
    <p:cSldViewPr snapToGrid="0">
      <p:cViewPr varScale="1">
        <p:scale>
          <a:sx n="117" d="100"/>
          <a:sy n="117" d="100"/>
        </p:scale>
        <p:origin x="64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DC8B6B-2B62-54CB-733C-700727650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ACF6200-05C0-C06B-A1B9-725E48560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7227BD0-16BC-9546-F7C0-E8AF1692A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D56BE0-5140-26ED-36B4-CFBFC0072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154A65-2B73-11D3-EF4E-793C27400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2399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1319DF-3FDE-822D-FBC2-5DC70595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95D959-9D57-CCC5-5E50-3CB7B8088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E3F0074-F3BB-A874-8EA9-CDF8AA495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1E87051-DE15-B77E-AD49-B12BBC4C5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C9535A-D48F-3894-91E8-D6B0A830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6455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D9EC1C-A262-A179-1758-1F6088351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314ACB1-4422-B9A2-462C-90FEB771D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40A69C-ACE3-4CDC-4535-030132D02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06AB51-D6D4-9249-1DA5-2874BB56B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E5B351-4373-3F8F-460E-B454A0814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4862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C6D7B7-A818-5DDD-39A9-77E39D1B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26A3CC-DF92-F788-5903-C8E499DB53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8C82CC1-DD6E-6128-6C20-36D9E107C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388CD49-265C-83C6-6483-30842E129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4CB1E6A-09F1-47E9-5826-FB548CA8F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956B788-6E29-1D1D-0714-41DE9D02D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2811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7256ED-8305-652E-98E2-4F07CF459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7C4945B-F738-63AD-9FF8-FD195C83C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FD9AFD2-FE46-94EC-BC81-32371B0BD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F20FC34-AA7E-BEAC-2242-B7430A427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8A57A23-87EE-150E-6E5C-2BF095A190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5EA8A1F-C35A-089F-8B2F-AAD428E4D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920B8E6-FD2E-2810-B4A7-8E5D5A7BF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C059CBE-DCD2-BCB9-2AD9-E8B9B610F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634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526CE-C450-5BDB-41B4-CE6B4C9A7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A96E399-005E-DB17-F994-6200849D4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17F8B3-7133-6BDF-0F91-1B670F73C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58BBAD7-8DD0-0462-DE12-D8A38678E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8047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C9305E0-DEB8-F068-BD63-E3C1C3FDD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10CC545-AF15-4935-D7F3-279C609B0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179C818-B85A-2387-D256-DC5A0C707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638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2C70AF-51CC-707A-D6AB-7B699C576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490D52E-FEE2-6B16-2DED-A537C1A104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87B1B09-F14E-97DD-BE40-330F5DC25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F88AAD7-E469-7181-C9EB-6DA9E6791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3261F98-5677-5F23-EC6E-D59E7DB41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580FEA-4B06-ACAB-69B7-C3BE2C1E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2825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7E79E0-6222-9339-8698-4511BED96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B55115D-31DE-385E-1DC8-1A3208A37A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ADE8B7F-DE74-ADEA-A846-91ADA1509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B0FC8A9-CE85-FE3C-5F51-C43D2E5DB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059B1C9-F49D-2D33-4FC8-7CA1426B8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ED2A4E-743D-F5BA-AC24-C60CCEDB5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82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DC5ADB-8159-745F-A86B-0DF0702AF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7C927A-1C6F-DC83-294C-55634A102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433EB2-1B36-B47C-E071-6F670221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5F53DAA-901A-CF60-A44C-1ED40066C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DF6F01D-61FC-C8AB-3B9B-0C0A1671C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77205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A0B5319-BC45-C5FC-281C-5232929B4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560CF44-E569-F0CB-4877-0B80EEF160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388E68-2F06-D352-6911-30003DF69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1E05E6-A167-E070-169D-4D0033407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8958D2-CE95-5E22-B07A-E1BF7E57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1791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F6B0BE-0A2D-DEA5-1B70-1FDE9BEF6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91A5C49-1B61-6879-5FF0-0A5059E94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A5647BE-E66A-2AAB-0597-BCA389DCAF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F4E17-2AD6-A64C-AD07-B43B6438BF55}" type="datetimeFigureOut">
              <a:rPr lang="ru-RU" smtClean="0"/>
              <a:t>09.11.2025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AEDF19-3F2D-2E78-E417-08CD19F1A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9A3E76-89C7-199D-D068-0AFFDF1B62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17359F-FBAC-AD41-9ECF-5A89D6F46C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4580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hyperlink" Target="https://vtb.seag.pro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hyperlink" Target="https://vtb.seag.pro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367D8DE-879F-90FB-5C7A-203A59DE9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43" y="1599792"/>
            <a:ext cx="7772400" cy="920229"/>
          </a:xfrm>
          <a:prstGeom prst="rect">
            <a:avLst/>
          </a:prstGeom>
        </p:spPr>
      </p:pic>
      <p:pic>
        <p:nvPicPr>
          <p:cNvPr id="17" name="Рисунок 16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FBD5AB9-AE23-548A-D457-83EC2E1E5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58" y="382387"/>
            <a:ext cx="6544192" cy="92022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5AF232E-F400-CDF4-F648-50E2C41FADB6}"/>
              </a:ext>
            </a:extLst>
          </p:cNvPr>
          <p:cNvSpPr txBox="1"/>
          <p:nvPr/>
        </p:nvSpPr>
        <p:spPr>
          <a:xfrm>
            <a:off x="923408" y="382387"/>
            <a:ext cx="538185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Защита </a:t>
            </a:r>
            <a:r>
              <a:rPr lang="en-US" sz="3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</a:p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автоматический поиск уязвимостей</a:t>
            </a:r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ru-RU" sz="2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6C0EFA-1A50-1BCD-0743-A037D69CCBF6}"/>
              </a:ext>
            </a:extLst>
          </p:cNvPr>
          <p:cNvSpPr txBox="1"/>
          <p:nvPr/>
        </p:nvSpPr>
        <p:spPr>
          <a:xfrm>
            <a:off x="620091" y="1596691"/>
            <a:ext cx="720538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SeagullNest</a:t>
            </a:r>
            <a:r>
              <a:rPr lang="en-US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(Team293)</a:t>
            </a:r>
            <a:endParaRPr lang="ru-RU" sz="5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Рисунок 10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C66C182-1ED4-BDA8-EEF5-9987F7639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2847" y="3836372"/>
            <a:ext cx="2022415" cy="43952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CF0DFC24-9F42-517F-8CB0-C7EF71756778}"/>
              </a:ext>
            </a:extLst>
          </p:cNvPr>
          <p:cNvSpPr txBox="1"/>
          <p:nvPr/>
        </p:nvSpPr>
        <p:spPr>
          <a:xfrm>
            <a:off x="9216972" y="3862659"/>
            <a:ext cx="1908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Алексей Чайка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93904F-1F49-1076-C7B6-7356C989D5AF}"/>
              </a:ext>
            </a:extLst>
          </p:cNvPr>
          <p:cNvSpPr txBox="1"/>
          <p:nvPr/>
        </p:nvSpPr>
        <p:spPr>
          <a:xfrm>
            <a:off x="8908868" y="4376013"/>
            <a:ext cx="3236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Капитан-разработчик</a:t>
            </a:r>
          </a:p>
        </p:txBody>
      </p:sp>
      <p:pic>
        <p:nvPicPr>
          <p:cNvPr id="4" name="Рисунок 3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AC3CC2D-9ABB-468E-E812-A6FF7C1DDA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2D7011A4-879E-FD43-0C5B-181F968280FF}"/>
              </a:ext>
            </a:extLst>
          </p:cNvPr>
          <p:cNvSpPr/>
          <p:nvPr/>
        </p:nvSpPr>
        <p:spPr>
          <a:xfrm>
            <a:off x="9159909" y="1687788"/>
            <a:ext cx="1908290" cy="1909523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 w="57150">
            <a:solidFill>
              <a:srgbClr val="05A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BBB102-E9A8-425B-B254-2CF2A1C5F8D2}"/>
              </a:ext>
            </a:extLst>
          </p:cNvPr>
          <p:cNvSpPr txBox="1"/>
          <p:nvPr/>
        </p:nvSpPr>
        <p:spPr>
          <a:xfrm>
            <a:off x="528048" y="3597311"/>
            <a:ext cx="617257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Решение полностью работает</a:t>
            </a:r>
          </a:p>
          <a:p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 размещено на</a:t>
            </a:r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endParaRPr lang="en-US" sz="3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https://vtb.seag.pro</a:t>
            </a:r>
            <a:endParaRPr lang="ru-RU" sz="2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69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442FF-B362-8DC7-8E54-12EDE77E5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552B4BF-A64F-6CC2-BE9C-9055DB5BA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9C84DB-4CEA-10B6-2AB2-59DE93D932A3}"/>
              </a:ext>
            </a:extLst>
          </p:cNvPr>
          <p:cNvSpPr txBox="1"/>
          <p:nvPr/>
        </p:nvSpPr>
        <p:spPr>
          <a:xfrm>
            <a:off x="923409" y="384754"/>
            <a:ext cx="5172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Проблематика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F196A89-1B79-6F97-AA64-4E214CF330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A187EF-34E1-4A40-9246-45632E1F6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585" y="2391154"/>
            <a:ext cx="9583415" cy="446684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3524B-B394-4402-ADCB-AD245A8EF290}"/>
              </a:ext>
            </a:extLst>
          </p:cNvPr>
          <p:cNvSpPr txBox="1"/>
          <p:nvPr/>
        </p:nvSpPr>
        <p:spPr>
          <a:xfrm>
            <a:off x="0" y="2391154"/>
            <a:ext cx="2609721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Проблемы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:</a:t>
            </a:r>
            <a:endParaRPr kumimoji="0" lang="ru-RU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JetBrains Mono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</a:b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•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Каждый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банк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 –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новая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работа</a:t>
            </a:r>
            <a:b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</a:b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• 6+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инструментов</a:t>
            </a:r>
            <a:endParaRPr kumimoji="0" lang="en-US" altLang="en-US" sz="14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JetBrains Mono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•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Результаты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 в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разных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форматах</a:t>
            </a:r>
            <a:b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</a:b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•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Нет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единого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представления</a:t>
            </a:r>
            <a:b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</a:b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• </a:t>
            </a:r>
            <a:r>
              <a:rPr kumimoji="0" lang="en-US" altLang="en-US" sz="145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Шум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 </a:t>
            </a:r>
            <a:r>
              <a:rPr kumimoji="0" lang="ru-RU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– 25-35%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(</a:t>
            </a:r>
            <a:r>
              <a:rPr kumimoji="0" lang="ru-RU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не представляющие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en-US" sz="1450" dirty="0">
                <a:solidFill>
                  <a:schemeClr val="bg1"/>
                </a:solidFill>
                <a:latin typeface="JetBrains Mono"/>
                <a:cs typeface="Courier New" panose="02070309020205020404" pitchFamily="49" charset="0"/>
              </a:rPr>
              <a:t>ценности уязвимости)</a:t>
            </a:r>
            <a:b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</a:b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• </a:t>
            </a:r>
            <a:r>
              <a:rPr kumimoji="0" lang="ru-RU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Не выявлено </a:t>
            </a:r>
            <a:r>
              <a:rPr lang="ru-RU" altLang="en-US" sz="1450" dirty="0">
                <a:solidFill>
                  <a:schemeClr val="bg1"/>
                </a:solidFill>
                <a:latin typeface="JetBrains Mono"/>
                <a:cs typeface="Courier New" panose="02070309020205020404" pitchFamily="49" charset="0"/>
              </a:rPr>
              <a:t>уязвимостей</a:t>
            </a:r>
            <a:r>
              <a:rPr kumimoji="0" lang="en-US" altLang="en-US" sz="14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JetBrains Mono"/>
                <a:cs typeface="Courier New" panose="02070309020205020404" pitchFamily="49" charset="0"/>
              </a:rPr>
              <a:t>: 30-50%</a:t>
            </a:r>
            <a:endParaRPr kumimoji="0" lang="en-US" altLang="en-US" sz="14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5997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6F2C-CF96-061A-E99A-160E32EF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A32D769-E5AA-43AE-932F-E6A953493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675" y="2900149"/>
            <a:ext cx="7172325" cy="3481425"/>
          </a:xfrm>
          <a:prstGeom prst="rect">
            <a:avLst/>
          </a:prstGeom>
        </p:spPr>
      </p:pic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FC79E97-B000-7924-D876-95ED6BB2F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354C0F8-34CC-778B-5E2C-FD042010B7DD}"/>
              </a:ext>
            </a:extLst>
          </p:cNvPr>
          <p:cNvSpPr txBox="1"/>
          <p:nvPr/>
        </p:nvSpPr>
        <p:spPr>
          <a:xfrm>
            <a:off x="923409" y="384754"/>
            <a:ext cx="5172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Решение есть!!!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1E8545E-2D46-E37F-F20B-84DE30598C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D45475-26E0-46AF-A349-204688809B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4839" y="1327653"/>
            <a:ext cx="6258798" cy="14575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3072C67-E53A-4CD7-BB81-3E41FAA5CA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767" y="3429000"/>
            <a:ext cx="3010320" cy="242921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66ED2E-A132-4D6B-9076-50C03DFD9BEC}"/>
              </a:ext>
            </a:extLst>
          </p:cNvPr>
          <p:cNvCxnSpPr>
            <a:cxnSpLocks/>
          </p:cNvCxnSpPr>
          <p:nvPr/>
        </p:nvCxnSpPr>
        <p:spPr>
          <a:xfrm>
            <a:off x="3359578" y="4449169"/>
            <a:ext cx="185386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F32E2EC-1CA9-409F-AFD6-DE3187F5E5E3}"/>
              </a:ext>
            </a:extLst>
          </p:cNvPr>
          <p:cNvSpPr txBox="1"/>
          <p:nvPr/>
        </p:nvSpPr>
        <p:spPr>
          <a:xfrm>
            <a:off x="5402394" y="2975310"/>
            <a:ext cx="6484806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Расширенный набор всех проверок</a:t>
            </a:r>
            <a:endParaRPr lang="en-US" sz="2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Единый отчет любого формата (</a:t>
            </a:r>
            <a:r>
              <a:rPr lang="en-US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pdf/html/json</a:t>
            </a: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2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Интеграция с </a:t>
            </a:r>
            <a:r>
              <a:rPr lang="en-US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CI/CD </a:t>
            </a: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процессом (результат – ссылка на отчет)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Рекомендации по устранению уязвимостей от </a:t>
            </a:r>
            <a:r>
              <a:rPr lang="en-US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endParaRPr lang="ru-RU" sz="2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endParaRPr lang="ru-RU" sz="2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422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6F2C-CF96-061A-E99A-160E32EF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FC79E97-B000-7924-D876-95ED6BB2F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354C0F8-34CC-778B-5E2C-FD042010B7DD}"/>
              </a:ext>
            </a:extLst>
          </p:cNvPr>
          <p:cNvSpPr txBox="1"/>
          <p:nvPr/>
        </p:nvSpPr>
        <p:spPr>
          <a:xfrm>
            <a:off x="923409" y="384754"/>
            <a:ext cx="65146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 Security </a:t>
            </a:r>
            <a:r>
              <a:rPr lang="en-US" sz="4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Analizr</a:t>
            </a:r>
            <a:endParaRPr lang="ru-RU" sz="4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1E8545E-2D46-E37F-F20B-84DE30598C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31E280-9A68-42DB-B637-1E9FDA5E250D}"/>
              </a:ext>
            </a:extLst>
          </p:cNvPr>
          <p:cNvSpPr txBox="1"/>
          <p:nvPr/>
        </p:nvSpPr>
        <p:spPr>
          <a:xfrm>
            <a:off x="578324" y="1422358"/>
            <a:ext cx="6097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https://vtb.seag.pro/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0EEEA7-3399-4A28-A7BF-BCD8B8A157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614684"/>
            <a:ext cx="121920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257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5172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Начало работы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60971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https://vtb.seag.pro/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2D7052-FC8B-4AF9-9AEB-2F49C67D9F26}"/>
              </a:ext>
            </a:extLst>
          </p:cNvPr>
          <p:cNvSpPr txBox="1"/>
          <p:nvPr/>
        </p:nvSpPr>
        <p:spPr>
          <a:xfrm>
            <a:off x="6450273" y="3566388"/>
            <a:ext cx="517259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Выберите банк из списка имеющихся конфигураций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320EB1-96A1-45C1-B312-4725817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0" y="2048985"/>
            <a:ext cx="3709766" cy="485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4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5172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Начало работы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60971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https://vtb.seag.pro/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2D7052-FC8B-4AF9-9AEB-2F49C67D9F26}"/>
              </a:ext>
            </a:extLst>
          </p:cNvPr>
          <p:cNvSpPr txBox="1"/>
          <p:nvPr/>
        </p:nvSpPr>
        <p:spPr>
          <a:xfrm>
            <a:off x="0" y="2017749"/>
            <a:ext cx="4306507" cy="447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Выберите методы анализа</a:t>
            </a:r>
            <a:r>
              <a:rPr lang="en-US" sz="3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ru-RU" sz="3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статический анализ спецификации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динамическое тестирование (на </a:t>
            </a:r>
            <a:r>
              <a:rPr lang="en-US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 </a:t>
            </a: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шлются реальные запросы для поиска уязвимостей)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Валидация контракта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</a:t>
            </a:r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анализ </a:t>
            </a:r>
            <a:r>
              <a:rPr lang="ru-RU" sz="25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уязимостей</a:t>
            </a:r>
            <a:endParaRPr lang="ru-RU" sz="2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976F3A-C3AC-4FE2-AA7E-7424D11C5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6507" y="2080423"/>
            <a:ext cx="7783011" cy="4667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353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Дождитесь результатов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609713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https://vtb.seag.pro/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A98BDD-8FE9-4027-923D-F1CF5D867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04552"/>
            <a:ext cx="12192000" cy="141216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20A32D3-4B02-4680-BC0D-A33905D970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87" y="4759742"/>
            <a:ext cx="10592718" cy="157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136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Изучите результаты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60971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https://vtb.seag.pro/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3615FD-1B51-4D7C-A033-5E45ABB7E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39706"/>
            <a:ext cx="12192000" cy="433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766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Примеры уязвимостей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60971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https://vtb.seag.pro/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D55B43-3C84-4ABE-BA8D-9C6949497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4591" y="2158650"/>
            <a:ext cx="12192000" cy="4442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375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Примеры уязвимостей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60971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https://vtb.seag.pro/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CE6B98-ED80-4F2D-A821-F56DC79CD4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88839"/>
            <a:ext cx="12192000" cy="382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326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Примеры уязвимостей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60971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https://vtb.seag.pro/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E36C2C-79F6-4204-8368-C28FF00891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17443"/>
            <a:ext cx="12192000" cy="3864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775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Примеры уязвимостей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1161595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  <a:hlinkClick r:id="rId4"/>
              </a:rPr>
              <a:t>https://vtb.seag.pro/</a:t>
            </a:r>
            <a:endParaRPr lang="ru-RU" sz="3000" dirty="0">
              <a:solidFill>
                <a:schemeClr val="bg1"/>
              </a:solidFill>
            </a:endParaRPr>
          </a:p>
          <a:p>
            <a:r>
              <a:rPr lang="ru-RU" sz="4000" dirty="0">
                <a:solidFill>
                  <a:schemeClr val="bg1"/>
                </a:solidFill>
              </a:rPr>
              <a:t>В контракте не упомянута возможность получения 429 статус-кода, как и наличие </a:t>
            </a:r>
            <a:r>
              <a:rPr lang="en-US" sz="4000" dirty="0" err="1">
                <a:solidFill>
                  <a:schemeClr val="bg1"/>
                </a:solidFill>
              </a:rPr>
              <a:t>RateLimiter</a:t>
            </a:r>
            <a:endParaRPr lang="en-US" sz="40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E57E3C-C8D7-4913-9A9A-48476B2004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429000"/>
            <a:ext cx="12192000" cy="254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662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Интеграция </a:t>
            </a:r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CI/CD</a:t>
            </a:r>
            <a:endParaRPr lang="ru-RU" sz="4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116159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Пример - </a:t>
            </a:r>
            <a:r>
              <a:rPr lang="en-US" sz="4000" dirty="0">
                <a:solidFill>
                  <a:schemeClr val="bg1"/>
                </a:solidFill>
              </a:rPr>
              <a:t>jenkins.seag.pro</a:t>
            </a:r>
            <a:endParaRPr lang="ru-RU" sz="4000" dirty="0">
              <a:solidFill>
                <a:schemeClr val="bg1"/>
              </a:solidFill>
            </a:endParaRPr>
          </a:p>
        </p:txBody>
      </p:sp>
      <p:pic>
        <p:nvPicPr>
          <p:cNvPr id="9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7AF8683-00C2-4C31-B71D-6642A6BA3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6325" y="2526667"/>
            <a:ext cx="7172325" cy="37726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D6FE32-7225-4A64-8D19-3C2CF0601F58}"/>
              </a:ext>
            </a:extLst>
          </p:cNvPr>
          <p:cNvSpPr txBox="1"/>
          <p:nvPr/>
        </p:nvSpPr>
        <p:spPr>
          <a:xfrm>
            <a:off x="58713" y="2526666"/>
            <a:ext cx="5721114" cy="29392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Интеграция доступна через</a:t>
            </a:r>
            <a:r>
              <a:rPr lang="en-US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ApiSecurityCli</a:t>
            </a:r>
            <a:endParaRPr lang="ru-RU" sz="2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5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ApiSecurityCli</a:t>
            </a:r>
            <a:r>
              <a:rPr lang="en-US" sz="1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</a:t>
            </a:r>
            <a:r>
              <a:rPr lang="ru-RU" sz="15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стэйдже</a:t>
            </a:r>
            <a:r>
              <a:rPr lang="ru-RU" sz="1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5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пайплайна</a:t>
            </a:r>
            <a:r>
              <a:rPr lang="ru-RU" sz="1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вызывается через скрипт </a:t>
            </a:r>
            <a:r>
              <a:rPr lang="en-US" sz="1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cli.sh</a:t>
            </a:r>
            <a:r>
              <a:rPr lang="ru-RU" sz="1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(пример справа), в перспективе – разработка отдельного исполняемого </a:t>
            </a:r>
            <a:r>
              <a:rPr lang="en-US" sz="1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</a:t>
            </a:r>
            <a:r>
              <a:rPr lang="ru-RU" sz="1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-инструмента на </a:t>
            </a:r>
            <a:r>
              <a:rPr lang="en-US" sz="15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GoLang</a:t>
            </a:r>
            <a:endParaRPr lang="ru-RU" sz="1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sz="1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Результат — проведенный поиск уязвимостей и ссылки на отчет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879FC0C0-F530-4314-8B3F-D19FEDEB2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ApiSecurityCli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40BAEB2-1385-4F6A-80E0-2B6C386FD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6512" y="1156750"/>
            <a:ext cx="5765872" cy="5685697"/>
          </a:xfrm>
          <a:prstGeom prst="rect">
            <a:avLst/>
          </a:prstGeom>
        </p:spPr>
      </p:pic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C27527F2-1A30-4BF8-86C7-789E3C09113A}"/>
              </a:ext>
            </a:extLst>
          </p:cNvPr>
          <p:cNvSpPr/>
          <p:nvPr/>
        </p:nvSpPr>
        <p:spPr>
          <a:xfrm>
            <a:off x="2973861" y="5636549"/>
            <a:ext cx="2805966" cy="1026080"/>
          </a:xfrm>
          <a:prstGeom prst="wedgeRoundRectCallout">
            <a:avLst/>
          </a:prstGeom>
          <a:solidFill>
            <a:srgbClr val="FFFF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Что будет если перейти по ссылке из </a:t>
            </a:r>
            <a:r>
              <a:rPr lang="en-US" dirty="0">
                <a:solidFill>
                  <a:schemeClr val="tx1"/>
                </a:solidFill>
              </a:rPr>
              <a:t>console output </a:t>
            </a:r>
            <a:r>
              <a:rPr lang="ru-RU" dirty="0">
                <a:solidFill>
                  <a:schemeClr val="tx1"/>
                </a:solidFill>
              </a:rPr>
              <a:t>в </a:t>
            </a:r>
            <a:r>
              <a:rPr lang="en-US" dirty="0">
                <a:solidFill>
                  <a:schemeClr val="tx1"/>
                </a:solidFill>
              </a:rPr>
              <a:t>Jenkins?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FF1EA24-D208-438D-869F-2EE7BDDEB6F7}"/>
              </a:ext>
            </a:extLst>
          </p:cNvPr>
          <p:cNvSpPr/>
          <p:nvPr/>
        </p:nvSpPr>
        <p:spPr>
          <a:xfrm>
            <a:off x="6434919" y="5561463"/>
            <a:ext cx="5076043" cy="120782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B90DB5-FC1F-4982-AA7F-CE9D97A883A6}"/>
              </a:ext>
            </a:extLst>
          </p:cNvPr>
          <p:cNvCxnSpPr>
            <a:stCxn id="15" idx="3"/>
          </p:cNvCxnSpPr>
          <p:nvPr/>
        </p:nvCxnSpPr>
        <p:spPr>
          <a:xfrm flipV="1">
            <a:off x="5779827" y="5827594"/>
            <a:ext cx="655092" cy="3219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8890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Интеграция </a:t>
            </a:r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CI/CD</a:t>
            </a:r>
            <a:endParaRPr lang="ru-RU" sz="4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116159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Что доступно по ссылке из отчета в </a:t>
            </a:r>
            <a:r>
              <a:rPr lang="en-US" sz="4000" dirty="0">
                <a:solidFill>
                  <a:schemeClr val="bg1"/>
                </a:solidFill>
              </a:rPr>
              <a:t>CI/CD ?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879FC0C0-F530-4314-8B3F-D19FEDEB2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ApiSecurityCli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9C620-54C4-440D-BAE6-A6FBAF9425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3863" y="1948417"/>
            <a:ext cx="8266706" cy="4909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884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Форматы отчетов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1161595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  <a:hlinkClick r:id="rId4"/>
              </a:rPr>
              <a:t>https://vtb.seag.pro/</a:t>
            </a:r>
            <a:endParaRPr lang="ru-RU" sz="3000" dirty="0">
              <a:solidFill>
                <a:schemeClr val="bg1"/>
              </a:solidFill>
            </a:endParaRPr>
          </a:p>
          <a:p>
            <a:r>
              <a:rPr lang="ru-RU" sz="3500" dirty="0" err="1">
                <a:solidFill>
                  <a:schemeClr val="bg1"/>
                </a:solidFill>
              </a:rPr>
              <a:t>Поддеживаются</a:t>
            </a:r>
            <a:r>
              <a:rPr lang="ru-RU" sz="3500" dirty="0">
                <a:solidFill>
                  <a:schemeClr val="bg1"/>
                </a:solidFill>
              </a:rPr>
              <a:t> форматы </a:t>
            </a:r>
            <a:r>
              <a:rPr lang="en-US" sz="3500" dirty="0" err="1">
                <a:solidFill>
                  <a:schemeClr val="bg1"/>
                </a:solidFill>
              </a:rPr>
              <a:t>html,json,pdf</a:t>
            </a:r>
            <a:r>
              <a:rPr lang="en-US" sz="3500" dirty="0">
                <a:solidFill>
                  <a:schemeClr val="bg1"/>
                </a:solidFill>
              </a:rPr>
              <a:t>.</a:t>
            </a:r>
            <a:endParaRPr lang="ru-RU" sz="3500" dirty="0">
              <a:solidFill>
                <a:schemeClr val="bg1"/>
              </a:solidFill>
            </a:endParaRPr>
          </a:p>
          <a:p>
            <a:endParaRPr lang="ru-RU" sz="3500" dirty="0">
              <a:solidFill>
                <a:schemeClr val="bg1"/>
              </a:solidFill>
            </a:endParaRPr>
          </a:p>
          <a:p>
            <a:endParaRPr lang="ru-RU" sz="3500" dirty="0">
              <a:solidFill>
                <a:schemeClr val="bg1"/>
              </a:solidFill>
            </a:endParaRPr>
          </a:p>
          <a:p>
            <a:r>
              <a:rPr lang="ru-RU" sz="3500" dirty="0">
                <a:solidFill>
                  <a:schemeClr val="bg1"/>
                </a:solidFill>
              </a:rPr>
              <a:t>Пример с </a:t>
            </a:r>
            <a:r>
              <a:rPr lang="en-US" sz="3500" dirty="0">
                <a:solidFill>
                  <a:schemeClr val="bg1"/>
                </a:solidFill>
              </a:rPr>
              <a:t>PDF: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972AF4-F4D4-4CEB-B1B7-81649528FE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3728" y="2590759"/>
            <a:ext cx="4837015" cy="4267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224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Заключение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97A419-BFA9-4559-A4E7-ED690CFF73C8}"/>
              </a:ext>
            </a:extLst>
          </p:cNvPr>
          <p:cNvSpPr txBox="1"/>
          <p:nvPr/>
        </p:nvSpPr>
        <p:spPr>
          <a:xfrm>
            <a:off x="353137" y="1278425"/>
            <a:ext cx="1161595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https://vtb.seag.pro</a:t>
            </a:r>
            <a:endParaRPr lang="ru-RU" sz="30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500" dirty="0">
                <a:solidFill>
                  <a:schemeClr val="bg1"/>
                </a:solidFill>
              </a:rPr>
              <a:t>Решение универсально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500" dirty="0">
                <a:solidFill>
                  <a:schemeClr val="bg1"/>
                </a:solidFill>
              </a:rPr>
              <a:t>Результаты разных способов поиска уязвимостей </a:t>
            </a:r>
            <a:r>
              <a:rPr lang="ru-RU" sz="2500" dirty="0" err="1">
                <a:solidFill>
                  <a:schemeClr val="bg1"/>
                </a:solidFill>
              </a:rPr>
              <a:t>агрегируются</a:t>
            </a:r>
            <a:r>
              <a:rPr lang="ru-RU" sz="2500" dirty="0">
                <a:solidFill>
                  <a:schemeClr val="bg1"/>
                </a:solidFill>
              </a:rPr>
              <a:t> в один отчет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500" dirty="0">
                <a:solidFill>
                  <a:schemeClr val="bg1"/>
                </a:solidFill>
              </a:rPr>
              <a:t>Поддержка разных форматов отчетов – </a:t>
            </a:r>
            <a:r>
              <a:rPr lang="en-US" sz="2500" dirty="0">
                <a:solidFill>
                  <a:schemeClr val="bg1"/>
                </a:solidFill>
              </a:rPr>
              <a:t>json/html/PDF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500" dirty="0">
                <a:solidFill>
                  <a:schemeClr val="bg1"/>
                </a:solidFill>
              </a:rPr>
              <a:t>Интеграция с </a:t>
            </a:r>
            <a:r>
              <a:rPr lang="en-US" sz="2500" dirty="0">
                <a:solidFill>
                  <a:schemeClr val="bg1"/>
                </a:solidFill>
              </a:rPr>
              <a:t>CI/CD</a:t>
            </a:r>
            <a:r>
              <a:rPr lang="ru-RU" sz="2500" dirty="0">
                <a:solidFill>
                  <a:schemeClr val="bg1"/>
                </a:solidFill>
              </a:rPr>
              <a:t> (на примере </a:t>
            </a:r>
            <a:r>
              <a:rPr lang="en-US" sz="2500" dirty="0">
                <a:solidFill>
                  <a:schemeClr val="bg1"/>
                </a:solidFill>
              </a:rPr>
              <a:t>Jenkins)</a:t>
            </a:r>
            <a:r>
              <a:rPr lang="ru-RU" sz="2500" dirty="0">
                <a:solidFill>
                  <a:schemeClr val="bg1"/>
                </a:solidFill>
              </a:rPr>
              <a:t> через </a:t>
            </a:r>
            <a:r>
              <a:rPr lang="en-US" sz="2500" dirty="0" err="1">
                <a:solidFill>
                  <a:schemeClr val="bg1"/>
                </a:solidFill>
              </a:rPr>
              <a:t>RestAPI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ru-RU" sz="2500" dirty="0">
                <a:solidFill>
                  <a:schemeClr val="bg1"/>
                </a:solidFill>
              </a:rPr>
              <a:t>или </a:t>
            </a:r>
            <a:r>
              <a:rPr lang="en-US" sz="2500" dirty="0">
                <a:solidFill>
                  <a:schemeClr val="bg1"/>
                </a:solidFill>
              </a:rPr>
              <a:t>CLI</a:t>
            </a:r>
            <a:r>
              <a:rPr lang="ru-RU" sz="2500" dirty="0">
                <a:solidFill>
                  <a:schemeClr val="bg1"/>
                </a:solidFill>
              </a:rPr>
              <a:t> (пока скрипт</a:t>
            </a:r>
            <a:r>
              <a:rPr lang="en-US" sz="2500" dirty="0">
                <a:solidFill>
                  <a:schemeClr val="bg1"/>
                </a:solidFill>
              </a:rPr>
              <a:t>-&gt;ApiSecurityCli.java</a:t>
            </a:r>
            <a:r>
              <a:rPr lang="ru-RU" sz="2500" dirty="0">
                <a:solidFill>
                  <a:schemeClr val="bg1"/>
                </a:solidFill>
              </a:rPr>
              <a:t>, в перспективе — исполняемый файл, разработанный на </a:t>
            </a:r>
            <a:r>
              <a:rPr lang="en-US" sz="2500" dirty="0" err="1">
                <a:solidFill>
                  <a:schemeClr val="bg1"/>
                </a:solidFill>
              </a:rPr>
              <a:t>GoLang</a:t>
            </a:r>
            <a:r>
              <a:rPr lang="ru-RU" sz="2500" dirty="0">
                <a:solidFill>
                  <a:schemeClr val="bg1"/>
                </a:solidFill>
              </a:rPr>
              <a:t>) </a:t>
            </a:r>
            <a:endParaRPr lang="en-US" sz="25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500" dirty="0">
                <a:solidFill>
                  <a:schemeClr val="bg1"/>
                </a:solidFill>
              </a:rPr>
              <a:t>Результат анализа в </a:t>
            </a:r>
            <a:r>
              <a:rPr lang="en-US" sz="2500" dirty="0">
                <a:solidFill>
                  <a:schemeClr val="bg1"/>
                </a:solidFill>
              </a:rPr>
              <a:t>CI/CD — </a:t>
            </a:r>
            <a:r>
              <a:rPr lang="ru-RU" sz="2500" dirty="0">
                <a:solidFill>
                  <a:schemeClr val="bg1"/>
                </a:solidFill>
              </a:rPr>
              <a:t>ссылки на опубликованные отчеты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06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8" y="335526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923409" y="384754"/>
            <a:ext cx="8766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 на последок</a:t>
            </a:r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ru-RU" sz="4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  <p:pic>
        <p:nvPicPr>
          <p:cNvPr id="7" name="Рисунок 10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EA35797-7A5F-42B6-84A3-1612AC4CD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2847" y="3836372"/>
            <a:ext cx="2022415" cy="4395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917BA8-86C4-4DE1-B727-102A351D4C1E}"/>
              </a:ext>
            </a:extLst>
          </p:cNvPr>
          <p:cNvSpPr txBox="1"/>
          <p:nvPr/>
        </p:nvSpPr>
        <p:spPr>
          <a:xfrm>
            <a:off x="9216972" y="3862659"/>
            <a:ext cx="1908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Алексей Чайка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64D346-BDC7-4FCE-82FA-3723D5EF6917}"/>
              </a:ext>
            </a:extLst>
          </p:cNvPr>
          <p:cNvSpPr txBox="1"/>
          <p:nvPr/>
        </p:nvSpPr>
        <p:spPr>
          <a:xfrm>
            <a:off x="8908868" y="4376013"/>
            <a:ext cx="3236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Капитан-разработчик</a:t>
            </a:r>
          </a:p>
        </p:txBody>
      </p:sp>
      <p:sp>
        <p:nvSpPr>
          <p:cNvPr id="11" name="Овал 21">
            <a:extLst>
              <a:ext uri="{FF2B5EF4-FFF2-40B4-BE49-F238E27FC236}">
                <a16:creationId xmlns:a16="http://schemas.microsoft.com/office/drawing/2014/main" id="{27B26304-5A2C-444A-B0A0-FFC33B7D2390}"/>
              </a:ext>
            </a:extLst>
          </p:cNvPr>
          <p:cNvSpPr/>
          <p:nvPr/>
        </p:nvSpPr>
        <p:spPr>
          <a:xfrm>
            <a:off x="9159909" y="1687788"/>
            <a:ext cx="1908290" cy="1909523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 w="57150">
            <a:solidFill>
              <a:srgbClr val="05A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47DE70-D674-4C3E-8E83-DA0DC77DA724}"/>
              </a:ext>
            </a:extLst>
          </p:cNvPr>
          <p:cNvSpPr txBox="1"/>
          <p:nvPr/>
        </p:nvSpPr>
        <p:spPr>
          <a:xfrm>
            <a:off x="528048" y="3597311"/>
            <a:ext cx="617257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Решение полностью работает</a:t>
            </a:r>
          </a:p>
          <a:p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 размещено на</a:t>
            </a:r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endParaRPr lang="en-US" sz="35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5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https://vtb.seag.pro</a:t>
            </a:r>
            <a:endParaRPr lang="ru-RU" sz="2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2320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C626-63EA-9FE6-C2E5-0D15C0FF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синий, Цвет электрик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BBD7B2-DAA0-C602-1DDB-D19DF0C13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116" y="3024135"/>
            <a:ext cx="7172325" cy="942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A09478-E726-F2C1-1294-C885963040B1}"/>
              </a:ext>
            </a:extLst>
          </p:cNvPr>
          <p:cNvSpPr txBox="1"/>
          <p:nvPr/>
        </p:nvSpPr>
        <p:spPr>
          <a:xfrm>
            <a:off x="2854567" y="3075057"/>
            <a:ext cx="87665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  <p:pic>
        <p:nvPicPr>
          <p:cNvPr id="2" name="Рисунок 1" descr="Изображение выглядит как текст, Шрифт, снимок экрана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60AD37-9C1F-D933-5FAB-72ADFC8F6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849"/>
          <a:stretch>
            <a:fillRect/>
          </a:stretch>
        </p:blipFill>
        <p:spPr>
          <a:xfrm>
            <a:off x="9242922" y="476426"/>
            <a:ext cx="2268040" cy="661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02215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446</Words>
  <Application>Microsoft Office PowerPoint</Application>
  <PresentationFormat>Widescreen</PresentationFormat>
  <Paragraphs>80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JetBrains Mono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Яна Аксанова</dc:creator>
  <cp:lastModifiedBy>aleksei</cp:lastModifiedBy>
  <cp:revision>18</cp:revision>
  <dcterms:created xsi:type="dcterms:W3CDTF">2025-10-21T16:40:14Z</dcterms:created>
  <dcterms:modified xsi:type="dcterms:W3CDTF">2025-11-09T14:23:11Z</dcterms:modified>
</cp:coreProperties>
</file>